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6"/>
    <p:sldId id="263" r:id="rId17"/>
    <p:sldId id="264" r:id="rId18"/>
    <p:sldId id="265" r:id="rId19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  <a:defRPr sz="1500" b="1">
                <a:solidFill>
                  <a:srgbClr val="0F181D"/>
                </a:solidFill>
                <a:latin typeface="Aptos"/>
              </a:defRPr>
            </a:pPr>
            <a:r>
              <a:t>Team Name: NOVA-AgenticIQ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  <a:defRPr sz="1300" b="1">
                <a:solidFill>
                  <a:srgbClr val="0F181D"/>
                </a:solidFill>
                <a:latin typeface="Aptos"/>
              </a:defRPr>
            </a:pPr>
            <a:r>
              <a:t>Problem Statement: Supply Chain Ontology and Governed Conversational Analytics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  <a:defRPr sz="1500" b="1">
                <a:solidFill>
                  <a:srgbClr val="0F181D"/>
                </a:solidFill>
                <a:latin typeface="Aptos"/>
              </a:defRPr>
            </a:pPr>
            <a:r>
              <a:t>Team Leader Name: Nikhilraj SV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  <a:defRPr sz="1500" b="1">
                <a:solidFill>
                  <a:srgbClr val="0F181D"/>
                </a:solidFill>
                <a:latin typeface="Aptos"/>
              </a:defRPr>
            </a:pPr>
            <a:r>
              <a:t>Team Size: 1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1  |  Problem Brief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One governed answer across planning, procurement, and logistics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11480" y="1389888"/>
            <a:ext cx="3703320" cy="320040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40080" y="1536192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5BCE4"/>
                </a:solidFill>
                <a:latin typeface="Aptos"/>
              </a:defRPr>
            </a:pPr>
            <a:r>
              <a:t>THE PAIN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" y="1847088"/>
            <a:ext cx="3246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Supply-chain data is fragmented across suppliers, plants, shipments, orders, inventory, and quality.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Teams calculate the same KPI differently, creating slow and low-trust decisions.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  <a:latin typeface="Aptos"/>
              </a:defRPr>
            </a:pPr>
            <a:r>
              <a:t>•  Generic text-to-SQL can return plausible answers without an auditable definition or source.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3959352"/>
            <a:ext cx="3200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45BCE4"/>
                </a:solidFill>
                <a:latin typeface="Aptos"/>
              </a:defRPr>
            </a:pPr>
            <a:r>
              <a:t>TARGET USERS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4224528"/>
            <a:ext cx="3200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Planning  •  Procurement  •  Logistics</a:t>
            </a:r>
          </a:p>
        </p:txBody>
      </p:sp>
      <p:pic>
        <p:nvPicPr>
          <p:cNvPr id="73" name="Picture 72" descr="dashboard-overview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1389888"/>
            <a:ext cx="4370832" cy="26976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2  |  Supply-chain Ontology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A canonical model connects operational cause to customer impact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2920" y="1508760"/>
            <a:ext cx="141732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14600" y="1508760"/>
            <a:ext cx="141732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Part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26280" y="1508760"/>
            <a:ext cx="141732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Inventory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537960" y="1508760"/>
            <a:ext cx="141732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Plant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920240" y="1883664"/>
            <a:ext cx="59436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931920" y="1883664"/>
            <a:ext cx="59436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5943600" y="1883664"/>
            <a:ext cx="59436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ounded Rectangle 80"/>
          <p:cNvSpPr/>
          <p:nvPr/>
        </p:nvSpPr>
        <p:spPr>
          <a:xfrm>
            <a:off x="502920" y="2606039"/>
            <a:ext cx="141732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Supplier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514600" y="2606039"/>
            <a:ext cx="141732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Shipment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526280" y="2606039"/>
            <a:ext cx="141732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537960" y="2606039"/>
            <a:ext cx="141732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1920240" y="2980944"/>
            <a:ext cx="59436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931920" y="2980944"/>
            <a:ext cx="59436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943600" y="2980944"/>
            <a:ext cx="59436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3520440" y="3703320"/>
            <a:ext cx="1874519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Quality Event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25880" y="3867912"/>
            <a:ext cx="19202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0F181D"/>
                </a:solidFill>
                <a:latin typeface="Aptos"/>
              </a:defRPr>
            </a:pPr>
            <a:r>
              <a:t>Supplier + Part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3291840" y="4078224"/>
            <a:ext cx="22860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5806440" y="3456432"/>
            <a:ext cx="2148840" cy="114300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016752" y="3611880"/>
            <a:ext cx="17373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5DC3AD"/>
                </a:solidFill>
                <a:latin typeface="Aptos"/>
              </a:defRPr>
            </a:pPr>
            <a:r>
              <a:t>ONE MODEL</a:t>
            </a:r>
            <a:br/>
            <a:r>
              <a:t>THREE PERSONAS</a:t>
            </a:r>
            <a:br/>
            <a:r>
              <a:t>ONE METRIC DEFINITION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3  |  Live Control Tower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A live operational surface for network risk and performance</a:t>
            </a:r>
          </a:p>
        </p:txBody>
      </p:sp>
      <p:pic>
        <p:nvPicPr>
          <p:cNvPr id="79" name="Picture 78" descr="dashboard-overview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371600"/>
            <a:ext cx="5989320" cy="3696533"/>
          </a:xfrm>
          <a:prstGeom prst="rect">
            <a:avLst/>
          </a:prstGeom>
        </p:spPr>
      </p:pic>
      <p:sp>
        <p:nvSpPr>
          <p:cNvPr id="80" name="Rounded Rectangle 79"/>
          <p:cNvSpPr/>
          <p:nvPr/>
        </p:nvSpPr>
        <p:spPr>
          <a:xfrm>
            <a:off x="6629400" y="1353312"/>
            <a:ext cx="2057400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75704" y="1463040"/>
            <a:ext cx="1764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45BCE4"/>
                </a:solidFill>
                <a:latin typeface="Aptos"/>
              </a:defRPr>
            </a:pPr>
            <a:r>
              <a:t>77.17%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775704" y="1837943"/>
            <a:ext cx="17647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ON-TIME DELIVERY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93992" y="2093976"/>
            <a:ext cx="17282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Completed shipments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629400" y="2596896"/>
            <a:ext cx="2057400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775704" y="2706624"/>
            <a:ext cx="1764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DC3AD"/>
                </a:solidFill>
                <a:latin typeface="Aptos"/>
              </a:defRPr>
            </a:pPr>
            <a:r>
              <a:t>96.15%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775704" y="3081528"/>
            <a:ext cx="17647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FILL RATE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93992" y="3337560"/>
            <a:ext cx="17282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10,000 orders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629400" y="3840480"/>
            <a:ext cx="2057400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75704" y="3950208"/>
            <a:ext cx="176479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F2975C"/>
                </a:solidFill>
                <a:latin typeface="Aptos"/>
              </a:defRPr>
            </a:pPr>
            <a:r>
              <a:t>554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75704" y="4325112"/>
            <a:ext cx="176479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AT-RISK LOCATIONS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93992" y="4581144"/>
            <a:ext cx="17282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Part-plant exposure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4  |  Governed AI: Snowflake Cortex Architecture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AI interprets the question; governance controls the answer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74320" y="1627632"/>
            <a:ext cx="123444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Business</a:t>
            </a:r>
            <a:br/>
            <a:r>
              <a:t>User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737360" y="1627632"/>
            <a:ext cx="123444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React</a:t>
            </a:r>
            <a:br/>
            <a:r>
              <a:t>UI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200400" y="1627632"/>
            <a:ext cx="123444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FastAPI</a:t>
            </a:r>
            <a:br/>
            <a:r>
              <a:t>Contract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663440" y="1627632"/>
            <a:ext cx="123444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Cortex</a:t>
            </a:r>
            <a:br/>
            <a:r>
              <a:t>Intent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26480" y="1627632"/>
            <a:ext cx="123444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Approved</a:t>
            </a:r>
            <a:br/>
            <a:r>
              <a:t>SQL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589520" y="1627632"/>
            <a:ext cx="1234440" cy="749808"/>
          </a:xfrm>
          <a:prstGeom prst="roundRect">
            <a:avLst/>
          </a:prstGeom>
          <a:solidFill>
            <a:srgbClr val="111D23"/>
          </a:solidFill>
          <a:ln w="17780">
            <a:solidFill>
              <a:srgbClr val="45B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Snowflake</a:t>
            </a:r>
            <a:br/>
            <a:r>
              <a:t>Metrics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508760" y="2002536"/>
            <a:ext cx="22860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971800" y="2002536"/>
            <a:ext cx="22860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434840" y="2002536"/>
            <a:ext cx="22860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897879" y="2002536"/>
            <a:ext cx="228601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7360920" y="2002536"/>
            <a:ext cx="228600" cy="0"/>
          </a:xfrm>
          <a:prstGeom prst="line">
            <a:avLst/>
          </a:prstGeom>
          <a:ln w="25400">
            <a:solidFill>
              <a:srgbClr val="45BC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457200" y="2788920"/>
            <a:ext cx="3840480" cy="132588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13232" y="2971800"/>
            <a:ext cx="3337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45BCE4"/>
                </a:solidFill>
                <a:latin typeface="Aptos"/>
              </a:defRPr>
            </a:pPr>
            <a:r>
              <a:t>WHAT CORTEX MAY RETURN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13232" y="3264408"/>
            <a:ext cx="33375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{"metric_name": "ON_TIME_DELIVERY_RATE",</a:t>
            </a:r>
            <a:br/>
            <a:r>
              <a:t> "period_mode": "LATEST_MONTH"}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4526280" y="2788920"/>
            <a:ext cx="4160520" cy="132588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82312" y="2971800"/>
            <a:ext cx="3657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F2975C"/>
                </a:solidFill>
                <a:latin typeface="Aptos"/>
              </a:defRPr>
            </a:pPr>
            <a:r>
              <a:t>WHAT CORTEX CAN NEVER DO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782312" y="3310128"/>
            <a:ext cx="3657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Aptos"/>
              </a:defRPr>
            </a:pPr>
            <a:r>
              <a:t>Generate SQL  •  Change data  •  Bypass metric definitions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4361688"/>
            <a:ext cx="7863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F181D"/>
                </a:solidFill>
                <a:latin typeface="Aptos"/>
              </a:defRPr>
            </a:pPr>
            <a:r>
              <a:t>Invalid or unavailable AI output falls back to deterministic intent matching.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84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5  |  Evidence, Not Just an Answer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Every answer carries its definition, formula, source, period, and SQL</a:t>
            </a:r>
          </a:p>
        </p:txBody>
      </p:sp>
      <p:pic>
        <p:nvPicPr>
          <p:cNvPr id="90" name="Picture 89" descr="governed-answer-evid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71600"/>
            <a:ext cx="8229600" cy="37306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6  |  Persona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Recommendations adapt by role; metric truth never changes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81328"/>
            <a:ext cx="2487168" cy="1874519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21214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5BCE4"/>
                </a:solidFill>
                <a:latin typeface="Aptos"/>
              </a:defRPr>
            </a:pPr>
            <a:r>
              <a:t>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02536"/>
            <a:ext cx="21214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5DC3AD"/>
                </a:solidFill>
                <a:latin typeface="Aptos"/>
              </a:defRPr>
            </a:pPr>
            <a:r>
              <a:t>56.91%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578608"/>
            <a:ext cx="1975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Adjust supply coverage and priorities.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1481328"/>
            <a:ext cx="2487168" cy="1874519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82496"/>
            <a:ext cx="21214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5BCE4"/>
                </a:solidFill>
                <a:latin typeface="Aptos"/>
              </a:defRPr>
            </a:pPr>
            <a:r>
              <a:t>PROCUREMENT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002536"/>
            <a:ext cx="21214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5DC3AD"/>
                </a:solidFill>
                <a:latin typeface="Aptos"/>
              </a:defRPr>
            </a:pPr>
            <a:r>
              <a:t>56.91%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578608"/>
            <a:ext cx="1975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Focus supplier and cost discussions.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481328"/>
            <a:ext cx="2487168" cy="1874519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682496"/>
            <a:ext cx="21214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45BCE4"/>
                </a:solidFill>
                <a:latin typeface="Aptos"/>
              </a:defRPr>
            </a:pPr>
            <a:r>
              <a:t>LOGISTICS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002536"/>
            <a:ext cx="212140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5DC3AD"/>
                </a:solidFill>
                <a:latin typeface="Aptos"/>
              </a:defRPr>
            </a:pPr>
            <a:r>
              <a:t>56.91%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578608"/>
            <a:ext cx="19751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ptos"/>
              </a:defRPr>
            </a:pPr>
            <a:r>
              <a:t>Prioritize delivery-flow investigation.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675887"/>
            <a:ext cx="7772400" cy="841248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04487"/>
            <a:ext cx="7223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5DC3AD"/>
                </a:solidFill>
                <a:latin typeface="Aptos"/>
              </a:defRPr>
            </a:pPr>
            <a:r>
              <a:t>IDENTICAL ACROSS ALL PERSONAS: metric  •  definition  •  evidence  •  SQL  •  result rows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7  |  Impact and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A realistic governed network with measurable operational signals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81328"/>
            <a:ext cx="2487168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91056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45BCE4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96596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SUPPLIERS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221992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GCC network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1481328"/>
            <a:ext cx="2487168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38144" y="1591056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45BCE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8144" y="196596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PLANTS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221992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Distribution footprint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59" y="1481328"/>
            <a:ext cx="2487168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591056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45BCE4"/>
                </a:solidFill>
                <a:latin typeface="Aptos"/>
              </a:defRPr>
            </a:pPr>
            <a:r>
              <a:t>10,000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965960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1" y="2221992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Customer demand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926080"/>
            <a:ext cx="2487168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30358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DC3AD"/>
                </a:solidFill>
                <a:latin typeface="Aptos"/>
              </a:defRPr>
            </a:pPr>
            <a:r>
              <a:t>554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41071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RISK LOCATIONS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3666744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Part-plant exposure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39" y="2926080"/>
            <a:ext cx="2487168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30358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DC3AD"/>
                </a:solidFill>
                <a:latin typeface="Aptos"/>
              </a:defRPr>
            </a:pPr>
            <a:r>
              <a:t>49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8144" y="341071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AFFECTED ORDERS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6432" y="3666744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Delayed inbound supply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59" y="2926080"/>
            <a:ext cx="2487168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27064" y="3035808"/>
            <a:ext cx="21945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DC3AD"/>
                </a:solidFill>
                <a:latin typeface="Aptos"/>
              </a:defRPr>
            </a:pPr>
            <a:r>
              <a:t>$256.2M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3410712"/>
            <a:ext cx="2194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LANDED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1" y="3666744"/>
            <a:ext cx="2157984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Material + logistics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70832"/>
            <a:ext cx="78638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F181D"/>
                </a:solidFill>
                <a:latin typeface="Aptos"/>
              </a:defRPr>
            </a:pPr>
            <a:r>
              <a:t>All values returned from live governed Snowflake objects and cross-checked through the API.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8  |  Engineering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Trust is enforced in code, Snowflake, tests, and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1901952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527048"/>
            <a:ext cx="1609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45BCE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901952"/>
            <a:ext cx="160934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BACKEND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157984"/>
            <a:ext cx="15727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Guardrails + contracts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2888" y="1417320"/>
            <a:ext cx="1901952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9192" y="1527048"/>
            <a:ext cx="1609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45BCE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1901952"/>
            <a:ext cx="160934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LIVE BROWSER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157984"/>
            <a:ext cx="15727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API-to-UI proof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54296" y="1417320"/>
            <a:ext cx="1901952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1527048"/>
            <a:ext cx="1609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45BCE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1901952"/>
            <a:ext cx="160934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PERSONAS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157984"/>
            <a:ext cx="15727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Canonical consistency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75703" y="1417320"/>
            <a:ext cx="1901952" cy="123444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7" y="1527048"/>
            <a:ext cx="160934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45BCE4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7" y="1901952"/>
            <a:ext cx="160934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GENERATED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5" y="2157984"/>
            <a:ext cx="157276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0">
                <a:solidFill>
                  <a:srgbClr val="B5C9D3"/>
                </a:solidFill>
                <a:latin typeface="Aptos"/>
              </a:defRPr>
            </a:pPr>
            <a:r>
              <a:t>Allowlisted queries only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2926080"/>
            <a:ext cx="3977639" cy="141732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27248"/>
            <a:ext cx="3429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45BCE4"/>
                </a:solidFill>
                <a:latin typeface="Aptos"/>
              </a:defRPr>
            </a:pPr>
            <a:r>
              <a:t>SNOWFLAKE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401568"/>
            <a:ext cx="3429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t>•  Read-only SUPPLYGRAPH_APP role</a:t>
            </a:r>
          </a:p>
          <a:p>
            <a:pPr>
              <a:spcAft>
                <a:spcPts val="8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t>•  Query tag: SUPPLYGRAPH_AI</a:t>
            </a:r>
          </a:p>
          <a:p>
            <a:pPr>
              <a:spcAft>
                <a:spcPts val="8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t>•  Credentials only in runtime secrets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2926080"/>
            <a:ext cx="4114800" cy="141732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127248"/>
            <a:ext cx="35661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45BCE4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401568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t>•  FastAPI + Vite on Vercel</a:t>
            </a:r>
          </a:p>
          <a:p>
            <a:pPr>
              <a:spcAft>
                <a:spcPts val="8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t>•  Public health and dashboard checks</a:t>
            </a:r>
          </a:p>
          <a:p>
            <a:pPr>
              <a:spcAft>
                <a:spcPts val="800"/>
              </a:spcAft>
              <a:defRPr sz="900">
                <a:solidFill>
                  <a:srgbClr val="FFFFFF"/>
                </a:solidFill>
                <a:latin typeface="Aptos"/>
              </a:defRPr>
            </a:pPr>
            <a:r>
              <a:t>•  GitHub Actions deployment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8"/>
          </a:xfrm>
          <a:prstGeom prst="rect">
            <a:avLst/>
          </a:prstGeom>
          <a:solidFill>
            <a:srgbClr val="0F18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310896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>
                <a:solidFill>
                  <a:srgbClr val="FFFFFF"/>
                </a:solidFill>
                <a:latin typeface="Aptos"/>
              </a:defRPr>
            </a:pPr>
            <a:r>
              <a:t>NOVA-AgenticIQ  |  SupplyGraph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0" y="73152"/>
            <a:ext cx="30632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800" b="1">
                <a:solidFill>
                  <a:srgbClr val="45BCE4"/>
                </a:solidFill>
                <a:latin typeface="Aptos"/>
              </a:defRPr>
            </a:pPr>
            <a:r>
              <a:t>CoCo CLI HACKATHON  •  GCC Edition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66928"/>
            <a:ext cx="83210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45BCE4"/>
                </a:solidFill>
                <a:latin typeface="Aptos"/>
              </a:defRPr>
            </a:pPr>
            <a:r>
              <a:t>9  |  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69264"/>
            <a:ext cx="8321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B5C9D3"/>
                </a:solidFill>
                <a:latin typeface="Aptos"/>
              </a:defRPr>
            </a:pPr>
            <a:r>
              <a:t>Why SupplyGraph AI wins: one network, one metric truth, every answer evidenced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508760"/>
            <a:ext cx="2487168" cy="205740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83080"/>
            <a:ext cx="208483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45BCE4"/>
                </a:solidFill>
                <a:latin typeface="Aptos"/>
              </a:defRPr>
            </a:pPr>
            <a:r>
              <a:t>GOVERNED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938528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Definitions, formulas, source objects, SQL, and rows travel with the answer.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508760"/>
            <a:ext cx="2487168" cy="205740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783080"/>
            <a:ext cx="208483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45BCE4"/>
                </a:solidFill>
                <a:latin typeface="Aptos"/>
              </a:defRPr>
            </a:pPr>
            <a:r>
              <a:t>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40280"/>
            <a:ext cx="1938528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Supplier, part, plant, shipment, order, and customer impact connect in one workflow.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508760"/>
            <a:ext cx="2487168" cy="2057400"/>
          </a:xfrm>
          <a:prstGeom prst="roundRect">
            <a:avLst/>
          </a:prstGeom>
          <a:solidFill>
            <a:srgbClr val="111D23"/>
          </a:solidFill>
          <a:ln w="12700">
            <a:solidFill>
              <a:srgbClr val="345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783080"/>
            <a:ext cx="2084831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45BCE4"/>
                </a:solidFill>
                <a:latin typeface="Aptos"/>
              </a:defRPr>
            </a:pPr>
            <a:r>
              <a:t>EXTENSIBLE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40280"/>
            <a:ext cx="1938528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Aptos"/>
              </a:defRPr>
            </a:pPr>
            <a:r>
              <a:t>New metrics plug into the catalog without weakening the trust boundary.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22191"/>
            <a:ext cx="77724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0F181D"/>
                </a:solidFill>
                <a:latin typeface="Aptos"/>
              </a:defRPr>
            </a:pPr>
            <a:r>
              <a:t>NOVA-AgenticIQ  |  Nikhilraj SV  |  CoCo CLI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7772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45BCE4"/>
                </a:solidFill>
                <a:latin typeface="Aptos"/>
              </a:defRPr>
            </a:pPr>
            <a:r>
              <a:t>One network. One metric truth. Every answer evidenced.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480560"/>
            <a:ext cx="79552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0F181D"/>
                </a:solidFill>
                <a:latin typeface="Aptos"/>
              </a:defRPr>
            </a:pPr>
            <a:r>
              <a:t>LIVE  supplygraph-ai-web.vercel.app    |    CODE  github.com/nikhilrajsv054/supplygraph-ai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